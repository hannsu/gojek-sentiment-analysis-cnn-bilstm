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5124176" cy="10689336"/>
  <p:notesSz cx="10689336" cy="1512417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124176" cy="1554480"/>
          </a:xfrm>
          <a:prstGeom prst="rect">
            <a:avLst/>
          </a:prstGeom>
          <a:solidFill>
            <a:srgbClr val="1E2761"/>
          </a:solidFill>
          <a:ln/>
        </p:spPr>
      </p:sp>
      <p:sp>
        <p:nvSpPr>
          <p:cNvPr id="3" name="Text 1"/>
          <p:cNvSpPr/>
          <p:nvPr/>
        </p:nvSpPr>
        <p:spPr>
          <a:xfrm>
            <a:off x="457200" y="137160"/>
            <a:ext cx="14173200" cy="777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ANALISIS SENTIMEN ULASAN APLIKASI GOJEK</a:t>
            </a:r>
            <a:endParaRPr lang="en-US" sz="3400" dirty="0"/>
          </a:p>
        </p:txBody>
      </p:sp>
      <p:sp>
        <p:nvSpPr>
          <p:cNvPr id="4" name="Text 2"/>
          <p:cNvSpPr/>
          <p:nvPr/>
        </p:nvSpPr>
        <p:spPr>
          <a:xfrm>
            <a:off x="457200" y="868680"/>
            <a:ext cx="1417320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Perbandingan Model Deep Learning CNN vs Hybrid CNN-BiLSTM untuk Klasifikasi Sentimen</a:t>
            </a:r>
            <a:endParaRPr lang="en-US" sz="1600" dirty="0"/>
          </a:p>
        </p:txBody>
      </p:sp>
      <p:sp>
        <p:nvSpPr>
          <p:cNvPr id="5" name="Text 3"/>
          <p:cNvSpPr/>
          <p:nvPr/>
        </p:nvSpPr>
        <p:spPr>
          <a:xfrm>
            <a:off x="457200" y="1234440"/>
            <a:ext cx="14173200" cy="27432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UAS Praktikum Machine Learning 2026  |  Kelompok XXX  |  S1 Sistem Informasi</a:t>
            </a:r>
            <a:endParaRPr lang="en-US" sz="1200" dirty="0"/>
          </a:p>
        </p:txBody>
      </p:sp>
      <p:sp>
        <p:nvSpPr>
          <p:cNvPr id="6" name="Shape 4"/>
          <p:cNvSpPr/>
          <p:nvPr/>
        </p:nvSpPr>
        <p:spPr>
          <a:xfrm>
            <a:off x="457200" y="1783080"/>
            <a:ext cx="4663440" cy="457200"/>
          </a:xfrm>
          <a:prstGeom prst="rect">
            <a:avLst/>
          </a:prstGeom>
          <a:solidFill>
            <a:srgbClr val="CADCFC"/>
          </a:solidFill>
          <a:ln/>
        </p:spPr>
      </p:sp>
      <p:sp>
        <p:nvSpPr>
          <p:cNvPr id="7" name="Text 5"/>
          <p:cNvSpPr/>
          <p:nvPr/>
        </p:nvSpPr>
        <p:spPr>
          <a:xfrm>
            <a:off x="548640" y="1810512"/>
            <a:ext cx="4480560" cy="402336"/>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1. PENDAHULUAN</a:t>
            </a:r>
            <a:endParaRPr lang="en-US" sz="1600" dirty="0"/>
          </a:p>
        </p:txBody>
      </p:sp>
      <p:sp>
        <p:nvSpPr>
          <p:cNvPr id="8" name="Text 6"/>
          <p:cNvSpPr/>
          <p:nvPr/>
        </p:nvSpPr>
        <p:spPr>
          <a:xfrm>
            <a:off x="457200" y="2331720"/>
            <a:ext cx="4663440" cy="1188720"/>
          </a:xfrm>
          <a:prstGeom prst="rect">
            <a:avLst/>
          </a:prstGeom>
          <a:noFill/>
          <a:ln/>
        </p:spPr>
        <p:txBody>
          <a:bodyPr wrap="square" rtlCol="0" anchor="t"/>
          <a:lstStyle/>
          <a:p>
            <a:pPr indent="0" marL="0">
              <a:buNone/>
            </a:pPr>
            <a:r>
              <a:rPr lang="en-US" sz="1250" dirty="0">
                <a:solidFill>
                  <a:srgbClr val="212121"/>
                </a:solidFill>
                <a:latin typeface="Calibri" pitchFamily="34" charset="0"/>
                <a:ea typeface="Calibri" pitchFamily="34" charset="-122"/>
                <a:cs typeface="Calibri" pitchFamily="34" charset="-120"/>
              </a:rPr>
              <a:t>Studi kasus klasifikasi sentimen ulasan pengguna aplikasi Gojek di Google Play Store. Mengembangkan referensi jurnal (Polibatam JAIC) yang hanya menggunakan 1 model deep learning (CNN), dengan menambahkan Model 2: Hybrid CNN-BiLSTM sebagai pembanding performa.</a:t>
            </a:r>
            <a:endParaRPr lang="en-US" sz="1250" dirty="0"/>
          </a:p>
        </p:txBody>
      </p:sp>
      <p:sp>
        <p:nvSpPr>
          <p:cNvPr id="9" name="Shape 7"/>
          <p:cNvSpPr/>
          <p:nvPr/>
        </p:nvSpPr>
        <p:spPr>
          <a:xfrm>
            <a:off x="457200" y="3657600"/>
            <a:ext cx="4663440" cy="457200"/>
          </a:xfrm>
          <a:prstGeom prst="rect">
            <a:avLst/>
          </a:prstGeom>
          <a:solidFill>
            <a:srgbClr val="CADCFC"/>
          </a:solidFill>
          <a:ln/>
        </p:spPr>
      </p:sp>
      <p:sp>
        <p:nvSpPr>
          <p:cNvPr id="10" name="Text 8"/>
          <p:cNvSpPr/>
          <p:nvPr/>
        </p:nvSpPr>
        <p:spPr>
          <a:xfrm>
            <a:off x="548640" y="3685032"/>
            <a:ext cx="4480560" cy="402336"/>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2. METODOLOGI</a:t>
            </a:r>
            <a:endParaRPr lang="en-US" sz="1600" dirty="0"/>
          </a:p>
        </p:txBody>
      </p:sp>
      <p:sp>
        <p:nvSpPr>
          <p:cNvPr id="11" name="Shape 9"/>
          <p:cNvSpPr/>
          <p:nvPr/>
        </p:nvSpPr>
        <p:spPr>
          <a:xfrm>
            <a:off x="457200" y="4251960"/>
            <a:ext cx="292608" cy="292608"/>
          </a:xfrm>
          <a:prstGeom prst="ellipse">
            <a:avLst/>
          </a:prstGeom>
          <a:solidFill>
            <a:srgbClr val="1E2761"/>
          </a:solidFill>
          <a:ln/>
        </p:spPr>
      </p:sp>
      <p:sp>
        <p:nvSpPr>
          <p:cNvPr id="12" name="Text 10"/>
          <p:cNvSpPr/>
          <p:nvPr/>
        </p:nvSpPr>
        <p:spPr>
          <a:xfrm>
            <a:off x="457200" y="42519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868680" y="422452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Input: Dataset Gojek App Reviews (Kaggle)</a:t>
            </a:r>
            <a:endParaRPr lang="en-US" sz="1150" dirty="0"/>
          </a:p>
        </p:txBody>
      </p:sp>
      <p:sp>
        <p:nvSpPr>
          <p:cNvPr id="14" name="Shape 12"/>
          <p:cNvSpPr/>
          <p:nvPr/>
        </p:nvSpPr>
        <p:spPr>
          <a:xfrm>
            <a:off x="457200" y="4754880"/>
            <a:ext cx="292608" cy="292608"/>
          </a:xfrm>
          <a:prstGeom prst="ellipse">
            <a:avLst/>
          </a:prstGeom>
          <a:solidFill>
            <a:srgbClr val="1E2761"/>
          </a:solidFill>
          <a:ln/>
        </p:spPr>
      </p:sp>
      <p:sp>
        <p:nvSpPr>
          <p:cNvPr id="15" name="Text 13"/>
          <p:cNvSpPr/>
          <p:nvPr/>
        </p:nvSpPr>
        <p:spPr>
          <a:xfrm>
            <a:off x="457200" y="47548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868680" y="472744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Preprocessing: cleaning, case folding, stopword removal, stemming (Sastrawi)</a:t>
            </a:r>
            <a:endParaRPr lang="en-US" sz="1150" dirty="0"/>
          </a:p>
        </p:txBody>
      </p:sp>
      <p:sp>
        <p:nvSpPr>
          <p:cNvPr id="17" name="Shape 15"/>
          <p:cNvSpPr/>
          <p:nvPr/>
        </p:nvSpPr>
        <p:spPr>
          <a:xfrm>
            <a:off x="457200" y="5257800"/>
            <a:ext cx="292608" cy="292608"/>
          </a:xfrm>
          <a:prstGeom prst="ellipse">
            <a:avLst/>
          </a:prstGeom>
          <a:solidFill>
            <a:srgbClr val="1E2761"/>
          </a:solidFill>
          <a:ln/>
        </p:spPr>
      </p:sp>
      <p:sp>
        <p:nvSpPr>
          <p:cNvPr id="18" name="Text 16"/>
          <p:cNvSpPr/>
          <p:nvPr/>
        </p:nvSpPr>
        <p:spPr>
          <a:xfrm>
            <a:off x="457200" y="525780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68680" y="523036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Data Splitting: Train 70% / Val 10-20% / Test 10-20%</a:t>
            </a:r>
            <a:endParaRPr lang="en-US" sz="1150" dirty="0"/>
          </a:p>
        </p:txBody>
      </p:sp>
      <p:sp>
        <p:nvSpPr>
          <p:cNvPr id="20" name="Shape 18"/>
          <p:cNvSpPr/>
          <p:nvPr/>
        </p:nvSpPr>
        <p:spPr>
          <a:xfrm>
            <a:off x="457200" y="5760720"/>
            <a:ext cx="292608" cy="292608"/>
          </a:xfrm>
          <a:prstGeom prst="ellipse">
            <a:avLst/>
          </a:prstGeom>
          <a:solidFill>
            <a:srgbClr val="1E2761"/>
          </a:solidFill>
          <a:ln/>
        </p:spPr>
      </p:sp>
      <p:sp>
        <p:nvSpPr>
          <p:cNvPr id="21" name="Text 19"/>
          <p:cNvSpPr/>
          <p:nvPr/>
        </p:nvSpPr>
        <p:spPr>
          <a:xfrm>
            <a:off x="457200" y="576072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868680" y="573328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Feature Extraction: Tokenizer + Padding sequence</a:t>
            </a:r>
            <a:endParaRPr lang="en-US" sz="1150" dirty="0"/>
          </a:p>
        </p:txBody>
      </p:sp>
      <p:sp>
        <p:nvSpPr>
          <p:cNvPr id="23" name="Shape 21"/>
          <p:cNvSpPr/>
          <p:nvPr/>
        </p:nvSpPr>
        <p:spPr>
          <a:xfrm>
            <a:off x="457200" y="6263640"/>
            <a:ext cx="292608" cy="292608"/>
          </a:xfrm>
          <a:prstGeom prst="ellipse">
            <a:avLst/>
          </a:prstGeom>
          <a:solidFill>
            <a:srgbClr val="1E2761"/>
          </a:solidFill>
          <a:ln/>
        </p:spPr>
      </p:sp>
      <p:sp>
        <p:nvSpPr>
          <p:cNvPr id="24" name="Text 22"/>
          <p:cNvSpPr/>
          <p:nvPr/>
        </p:nvSpPr>
        <p:spPr>
          <a:xfrm>
            <a:off x="457200" y="626364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868680" y="623620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Model 1: CNN (non-hybrid)  |  Model 2: Hybrid CNN-BiLSTM</a:t>
            </a:r>
            <a:endParaRPr lang="en-US" sz="1150" dirty="0"/>
          </a:p>
        </p:txBody>
      </p:sp>
      <p:sp>
        <p:nvSpPr>
          <p:cNvPr id="26" name="Shape 24"/>
          <p:cNvSpPr/>
          <p:nvPr/>
        </p:nvSpPr>
        <p:spPr>
          <a:xfrm>
            <a:off x="457200" y="6766560"/>
            <a:ext cx="292608" cy="292608"/>
          </a:xfrm>
          <a:prstGeom prst="ellipse">
            <a:avLst/>
          </a:prstGeom>
          <a:solidFill>
            <a:srgbClr val="1E2761"/>
          </a:solidFill>
          <a:ln/>
        </p:spPr>
      </p:sp>
      <p:sp>
        <p:nvSpPr>
          <p:cNvPr id="27" name="Text 25"/>
          <p:cNvSpPr/>
          <p:nvPr/>
        </p:nvSpPr>
        <p:spPr>
          <a:xfrm>
            <a:off x="457200" y="67665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p:nvPr/>
        </p:nvSpPr>
        <p:spPr>
          <a:xfrm>
            <a:off x="868680" y="673912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Evaluasi: Accuracy, Precision, Recall, F1-score</a:t>
            </a:r>
            <a:endParaRPr lang="en-US" sz="1150" dirty="0"/>
          </a:p>
        </p:txBody>
      </p:sp>
      <p:sp>
        <p:nvSpPr>
          <p:cNvPr id="29" name="Shape 27"/>
          <p:cNvSpPr/>
          <p:nvPr/>
        </p:nvSpPr>
        <p:spPr>
          <a:xfrm>
            <a:off x="457200" y="7269480"/>
            <a:ext cx="292608" cy="292608"/>
          </a:xfrm>
          <a:prstGeom prst="ellipse">
            <a:avLst/>
          </a:prstGeom>
          <a:solidFill>
            <a:srgbClr val="1E2761"/>
          </a:solidFill>
          <a:ln/>
        </p:spPr>
      </p:sp>
      <p:sp>
        <p:nvSpPr>
          <p:cNvPr id="30" name="Text 28"/>
          <p:cNvSpPr/>
          <p:nvPr/>
        </p:nvSpPr>
        <p:spPr>
          <a:xfrm>
            <a:off x="457200" y="72694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868680" y="7242048"/>
            <a:ext cx="4251960" cy="45720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Deployment: Model terbaik -&gt; Backend API -&gt; GUI Web</a:t>
            </a:r>
            <a:endParaRPr lang="en-US" sz="1150" dirty="0"/>
          </a:p>
        </p:txBody>
      </p:sp>
      <p:sp>
        <p:nvSpPr>
          <p:cNvPr id="32" name="Shape 30"/>
          <p:cNvSpPr/>
          <p:nvPr/>
        </p:nvSpPr>
        <p:spPr>
          <a:xfrm>
            <a:off x="5349240" y="1783080"/>
            <a:ext cx="4937760" cy="457200"/>
          </a:xfrm>
          <a:prstGeom prst="rect">
            <a:avLst/>
          </a:prstGeom>
          <a:solidFill>
            <a:srgbClr val="CADCFC"/>
          </a:solidFill>
          <a:ln/>
        </p:spPr>
      </p:sp>
      <p:sp>
        <p:nvSpPr>
          <p:cNvPr id="33" name="Text 31"/>
          <p:cNvSpPr/>
          <p:nvPr/>
        </p:nvSpPr>
        <p:spPr>
          <a:xfrm>
            <a:off x="5440680" y="1810512"/>
            <a:ext cx="4754880" cy="402336"/>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3. HASIL TRAINING (MODEL TERBAIK: HYBRID CNN-BiLSTM)</a:t>
            </a:r>
            <a:endParaRPr lang="en-US" sz="1450" dirty="0"/>
          </a:p>
        </p:txBody>
      </p:sp>
      <p:pic>
        <p:nvPicPr>
          <p:cNvPr id="34" name="Image 0" descr="/home/claude/UAS_KelompokXXX/docs/hasil/training_history_Model2_CNN_BiLSTM_Hybrid.png">    </p:cNvPr>
          <p:cNvPicPr>
            <a:picLocks noChangeAspect="1"/>
          </p:cNvPicPr>
          <p:nvPr/>
        </p:nvPicPr>
        <p:blipFill>
          <a:blip r:embed="rId1"/>
          <a:stretch>
            <a:fillRect/>
          </a:stretch>
        </p:blipFill>
        <p:spPr>
          <a:xfrm>
            <a:off x="5349240" y="2331720"/>
            <a:ext cx="4937760" cy="1851660"/>
          </a:xfrm>
          <a:prstGeom prst="rect">
            <a:avLst/>
          </a:prstGeom>
        </p:spPr>
      </p:pic>
      <p:sp>
        <p:nvSpPr>
          <p:cNvPr id="35" name="Text 32"/>
          <p:cNvSpPr/>
          <p:nvPr/>
        </p:nvSpPr>
        <p:spPr>
          <a:xfrm>
            <a:off x="5349240" y="4709160"/>
            <a:ext cx="493776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4. CONFUSION MATRIX</a:t>
            </a:r>
            <a:endParaRPr lang="en-US" sz="1600" dirty="0"/>
          </a:p>
        </p:txBody>
      </p:sp>
      <p:pic>
        <p:nvPicPr>
          <p:cNvPr id="36" name="Image 1" descr="/home/claude/UAS_KelompokXXX/docs/hasil/confusion_matrix_Model2_CNN_BiLSTM_Hybrid.png">    </p:cNvPr>
          <p:cNvPicPr>
            <a:picLocks noChangeAspect="1"/>
          </p:cNvPicPr>
          <p:nvPr/>
        </p:nvPicPr>
        <p:blipFill>
          <a:blip r:embed="rId2"/>
          <a:stretch>
            <a:fillRect/>
          </a:stretch>
        </p:blipFill>
        <p:spPr>
          <a:xfrm>
            <a:off x="6172200" y="5120640"/>
            <a:ext cx="3291840" cy="2693324"/>
          </a:xfrm>
          <a:prstGeom prst="rect">
            <a:avLst/>
          </a:prstGeom>
        </p:spPr>
      </p:pic>
      <p:sp>
        <p:nvSpPr>
          <p:cNvPr id="37" name="Shape 33"/>
          <p:cNvSpPr/>
          <p:nvPr/>
        </p:nvSpPr>
        <p:spPr>
          <a:xfrm>
            <a:off x="10561320" y="1783080"/>
            <a:ext cx="4114800" cy="457200"/>
          </a:xfrm>
          <a:prstGeom prst="rect">
            <a:avLst/>
          </a:prstGeom>
          <a:solidFill>
            <a:srgbClr val="CADCFC"/>
          </a:solidFill>
          <a:ln/>
        </p:spPr>
      </p:sp>
      <p:sp>
        <p:nvSpPr>
          <p:cNvPr id="38" name="Text 34"/>
          <p:cNvSpPr/>
          <p:nvPr/>
        </p:nvSpPr>
        <p:spPr>
          <a:xfrm>
            <a:off x="10652760" y="1810512"/>
            <a:ext cx="3931920" cy="402336"/>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5. PERBANDINGAN MODEL</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0561320" y="2331720"/>
          <a:ext cx="4114800" cy="1645920"/>
        </p:xfrm>
        <a:graphic>
          <a:graphicData uri="http://schemas.openxmlformats.org/drawingml/2006/table">
            <a:tbl>
              <a:tblPr/>
              <a:tblGrid>
                <a:gridCol w="1371600"/>
                <a:gridCol w="1371600"/>
                <a:gridCol w="137160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Metrik</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CNN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Hybrid CNN-BiLSTM</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329184">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0.8225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0.8300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0.6082</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0.6171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0.6289</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0.6457</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F1-score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0.6089</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0.6209</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40" name="Text 35"/>
          <p:cNvSpPr/>
          <p:nvPr/>
        </p:nvSpPr>
        <p:spPr>
          <a:xfrm>
            <a:off x="10561320" y="4069080"/>
            <a:ext cx="4114800" cy="36576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Dataset: 225.002 ulasan Gojek (Kaggle). Model terbaik: Hybrid CNN-BiLSTM (F1-score tertinggi)</a:t>
            </a:r>
            <a:endParaRPr lang="en-US" sz="900" dirty="0"/>
          </a:p>
        </p:txBody>
      </p:sp>
      <p:sp>
        <p:nvSpPr>
          <p:cNvPr id="41" name="Shape 36"/>
          <p:cNvSpPr/>
          <p:nvPr/>
        </p:nvSpPr>
        <p:spPr>
          <a:xfrm>
            <a:off x="10561320" y="4572000"/>
            <a:ext cx="4114800" cy="457200"/>
          </a:xfrm>
          <a:prstGeom prst="rect">
            <a:avLst/>
          </a:prstGeom>
          <a:solidFill>
            <a:srgbClr val="CADCFC"/>
          </a:solidFill>
          <a:ln/>
        </p:spPr>
      </p:sp>
      <p:sp>
        <p:nvSpPr>
          <p:cNvPr id="42" name="Text 37"/>
          <p:cNvSpPr/>
          <p:nvPr/>
        </p:nvSpPr>
        <p:spPr>
          <a:xfrm>
            <a:off x="10652760" y="4599432"/>
            <a:ext cx="3931920" cy="402336"/>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6. OUTPUT / GUI</a:t>
            </a:r>
            <a:endParaRPr lang="en-US" sz="1600" dirty="0"/>
          </a:p>
        </p:txBody>
      </p:sp>
      <p:sp>
        <p:nvSpPr>
          <p:cNvPr id="43" name="Text 38"/>
          <p:cNvSpPr/>
          <p:nvPr/>
        </p:nvSpPr>
        <p:spPr>
          <a:xfrm>
            <a:off x="10561320" y="5120640"/>
            <a:ext cx="4114800" cy="146304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Model terbaik (dipilih berdasarkan F1-score tertinggi) diimplementasikan pada GUI Web (Streamlit) yang terhubung ke Backend FastAPI. Pengguna dapat memasukkan teks ulasan baru dan langsung melihat hasil klasifikasi sentimen beserta tingkat keyakinan (confidence) model, lengkap dengan riwayat prediksi tersimpan di database.</a:t>
            </a:r>
            <a:endParaRPr lang="en-US" sz="1150" dirty="0"/>
          </a:p>
        </p:txBody>
      </p:sp>
      <p:sp>
        <p:nvSpPr>
          <p:cNvPr id="44" name="Shape 39"/>
          <p:cNvSpPr/>
          <p:nvPr/>
        </p:nvSpPr>
        <p:spPr>
          <a:xfrm>
            <a:off x="10561320" y="6720840"/>
            <a:ext cx="4114800" cy="457200"/>
          </a:xfrm>
          <a:prstGeom prst="rect">
            <a:avLst/>
          </a:prstGeom>
          <a:solidFill>
            <a:srgbClr val="CADCFC"/>
          </a:solidFill>
          <a:ln/>
        </p:spPr>
      </p:sp>
      <p:sp>
        <p:nvSpPr>
          <p:cNvPr id="45" name="Text 40"/>
          <p:cNvSpPr/>
          <p:nvPr/>
        </p:nvSpPr>
        <p:spPr>
          <a:xfrm>
            <a:off x="10652760" y="6748272"/>
            <a:ext cx="3931920" cy="402336"/>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7. KESIMPULAN</a:t>
            </a:r>
            <a:endParaRPr lang="en-US" sz="1600" dirty="0"/>
          </a:p>
        </p:txBody>
      </p:sp>
      <p:sp>
        <p:nvSpPr>
          <p:cNvPr id="46" name="Text 41"/>
          <p:cNvSpPr/>
          <p:nvPr/>
        </p:nvSpPr>
        <p:spPr>
          <a:xfrm>
            <a:off x="10561320" y="7269480"/>
            <a:ext cx="4114800" cy="1005840"/>
          </a:xfrm>
          <a:prstGeom prst="rect">
            <a:avLst/>
          </a:prstGeom>
          <a:noFill/>
          <a:ln/>
        </p:spPr>
        <p:txBody>
          <a:bodyPr wrap="square" rtlCol="0" anchor="t"/>
          <a:lstStyle/>
          <a:p>
            <a:pPr indent="0" marL="0">
              <a:buNone/>
            </a:pPr>
            <a:r>
              <a:rPr lang="en-US" sz="1150" dirty="0">
                <a:solidFill>
                  <a:srgbClr val="212121"/>
                </a:solidFill>
                <a:latin typeface="Calibri" pitchFamily="34" charset="0"/>
                <a:ea typeface="Calibri" pitchFamily="34" charset="-122"/>
                <a:cs typeface="Calibri" pitchFamily="34" charset="-120"/>
              </a:rPr>
              <a:t>Model terbaik hasil komparasi terbukti mampu mengklasifikasikan sentimen ulasan dengan performa tinggi dan siap digunakan pada aplikasi nyata melalui antarmuka GUI Web.</a:t>
            </a:r>
            <a:endParaRPr lang="en-US" sz="1150" dirty="0"/>
          </a:p>
        </p:txBody>
      </p:sp>
      <p:sp>
        <p:nvSpPr>
          <p:cNvPr id="47" name="Shape 42"/>
          <p:cNvSpPr/>
          <p:nvPr/>
        </p:nvSpPr>
        <p:spPr>
          <a:xfrm>
            <a:off x="0" y="10195560"/>
            <a:ext cx="15124176" cy="493776"/>
          </a:xfrm>
          <a:prstGeom prst="rect">
            <a:avLst/>
          </a:prstGeom>
          <a:solidFill>
            <a:srgbClr val="1E2761"/>
          </a:solidFill>
          <a:ln/>
        </p:spPr>
      </p:sp>
      <p:sp>
        <p:nvSpPr>
          <p:cNvPr id="48" name="Text 43"/>
          <p:cNvSpPr/>
          <p:nvPr/>
        </p:nvSpPr>
        <p:spPr>
          <a:xfrm>
            <a:off x="457200" y="10213848"/>
            <a:ext cx="14173200" cy="45720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GitHub Repo: github.com/Reyysusanto/loan-approval (referensi struktur)   |   Dataset: kaggle.com/datasets/ucupsedaya/gojek-app-reviews-bahasa-indonesia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2026-07-06T07:34:50Z</dcterms:created>
  <dcterms:modified xsi:type="dcterms:W3CDTF">2026-07-06T07:34:50Z</dcterms:modified>
</cp:coreProperties>
</file>